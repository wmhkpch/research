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nny.charoenpong@gmail.com" initials="" lastIdx="1" clrIdx="0">
    <p:extLst>
      <p:ext uri="{19B8F6BF-5375-455C-9EA6-DF929625EA0E}">
        <p15:presenceInfo xmlns:p15="http://schemas.microsoft.com/office/powerpoint/2012/main" userId="3f270ec20c18229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5096"/>
    <a:srgbClr val="4472C5"/>
    <a:srgbClr val="16538E"/>
    <a:srgbClr val="CCD1DB"/>
    <a:srgbClr val="EBF0F7"/>
    <a:srgbClr val="D2DFEF"/>
    <a:srgbClr val="D27AC2"/>
    <a:srgbClr val="F47AC3"/>
    <a:srgbClr val="222F68"/>
    <a:srgbClr val="FD0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574"/>
    <p:restoredTop sz="88503"/>
  </p:normalViewPr>
  <p:slideViewPr>
    <p:cSldViewPr snapToGrid="0" snapToObjects="1">
      <p:cViewPr varScale="1">
        <p:scale>
          <a:sx n="112" d="100"/>
          <a:sy n="112" d="100"/>
        </p:scale>
        <p:origin x="17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03T09:44:05.197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C1AF4-E9E7-0B45-AEAB-9C15B9BCEFA9}" type="datetimeFigureOut">
              <a:rPr lang="en-TH" smtClean="0"/>
              <a:t>2/5/2025 R</a:t>
            </a:fld>
            <a:endParaRPr lang="en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10AD8E-4F1C-EF4B-BA62-52D12E531EBD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532994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H" dirty="0"/>
              <a:t>- mention in methods, the level (concentration of antibiotics used)</a:t>
            </a:r>
          </a:p>
          <a:p>
            <a:r>
              <a:rPr lang="en-TH" dirty="0"/>
              <a:t>- did the patient use the antibiotic before</a:t>
            </a:r>
          </a:p>
          <a:p>
            <a:r>
              <a:rPr lang="en-TH" dirty="0"/>
              <a:t>- there is a contrast between introduction a</a:t>
            </a:r>
            <a:r>
              <a:rPr lang="en-US" dirty="0" err="1"/>
              <a:t>nd</a:t>
            </a:r>
            <a:r>
              <a:rPr lang="en-TH" dirty="0"/>
              <a:t> conclusion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5096"/>
                </a:solidFill>
                <a:cs typeface="Arial" panose="020B0604020202020204" pitchFamily="34" charset="0"/>
              </a:rPr>
              <a:t>If similar changes are seen in vivo, the need for therapeutic drug monitoring is imperative -&gt; need change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5096"/>
                </a:solidFill>
                <a:cs typeface="Arial" panose="020B0604020202020204" pitchFamily="34" charset="0"/>
              </a:rPr>
              <a:t>When talking about the results need to make both results link (mono-&gt;cd4)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5096"/>
                </a:solidFill>
                <a:cs typeface="Arial" panose="020B0604020202020204" pitchFamily="34" charset="0"/>
              </a:rPr>
              <a:t>Methods and results don’t need to go into that depth detail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5096"/>
                </a:solidFill>
                <a:cs typeface="Arial" panose="020B0604020202020204" pitchFamily="34" charset="0"/>
              </a:rPr>
              <a:t>mention mono and cd4 so audient can follow when talk about the results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5096"/>
                </a:solidFill>
                <a:cs typeface="Arial" panose="020B0604020202020204" pitchFamily="34" charset="0"/>
              </a:rPr>
              <a:t>Results – focus on the function than and overall integration that line by line</a:t>
            </a:r>
          </a:p>
          <a:p>
            <a:endParaRPr lang="en-US" sz="12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0AD8E-4F1C-EF4B-BA62-52D12E531EBD}" type="slidenum">
              <a:rPr lang="en-TH" smtClean="0"/>
              <a:t>1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516750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AB811-A4ED-8247-B077-1104844A9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159A6DA-9EB2-EC4E-BB02-6CA1D945E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284CDA-B11E-4043-A64E-E49A6F96C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CCA0-A337-E64F-87FC-0CE0B8203967}" type="datetimeFigureOut">
              <a:rPr lang="fr-FR" smtClean="0"/>
              <a:t>02/05/2025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F50796-6101-F048-B93E-490DDECB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D355DF-7158-444E-BFFA-F1414430F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10E38-6B3D-364C-BBB4-3AE35B9ADBB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120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C938C2-1C4E-3647-9E0B-ABA53D299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610D7E-81AB-514C-BBF9-7C57A341E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BD4E45-C437-2044-A25F-855B42F6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CCA0-A337-E64F-87FC-0CE0B8203967}" type="datetimeFigureOut">
              <a:rPr lang="fr-FR" smtClean="0"/>
              <a:t>02/05/2025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AE9A86-90C9-3C44-BCC2-8A0544199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C147E3-B256-D742-9135-7A3A0B33D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10E38-6B3D-364C-BBB4-3AE35B9ADBB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5303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682006-3B53-3C4B-BAD8-FD08E1B16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FCC1BC-8763-3543-8BF4-0BE2E8EE8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A0677F-8FBD-A94C-B074-C335A8B05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CCA0-A337-E64F-87FC-0CE0B8203967}" type="datetimeFigureOut">
              <a:rPr lang="fr-FR" smtClean="0"/>
              <a:t>02/05/2025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E01B18-8A1B-F041-8FDA-C8E5CE2D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87AA8C-40DE-2542-A0A5-A8DA47302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10E38-6B3D-364C-BBB4-3AE35B9ADBB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935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855DEC-13BE-D343-999A-A7677C35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830CDB-9974-2347-B115-70FA1271F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B8BA0A4-1B22-034A-BCB4-AC3F6FE2E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F4645C-7126-7F4D-84BA-60FF4365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CCA0-A337-E64F-87FC-0CE0B8203967}" type="datetimeFigureOut">
              <a:rPr lang="fr-FR" smtClean="0"/>
              <a:t>02/05/2025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BED81B-5B7F-E54C-B216-383B5C667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A1CF6F-3439-2A49-A117-DE51E83DE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10E38-6B3D-364C-BBB4-3AE35B9ADBB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4894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7F5B12-EAF4-E240-8AC9-0CD682FE8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A72A4D-94F4-9143-A891-114DA2931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B62B7E1-DB1C-8747-9A1C-7EDC27AFD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FA98490-59A8-EC4E-9E2B-A43D288A5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6F2B3F1-5E0B-7C41-9327-67A68A0BA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9D30762-4ADE-A345-A801-1D661C2C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CCA0-A337-E64F-87FC-0CE0B8203967}" type="datetimeFigureOut">
              <a:rPr lang="fr-FR" smtClean="0"/>
              <a:t>02/05/2025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EB9D959-8E10-564F-90E4-E3AEFE752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34BFD97-3952-7A47-B75A-5DBD7FB1C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10E38-6B3D-364C-BBB4-3AE35B9ADBB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450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6629A-B3B6-3C4F-A1FC-2EE5FD8D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29615AD-B529-1647-A466-E830FE875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CCA0-A337-E64F-87FC-0CE0B8203967}" type="datetimeFigureOut">
              <a:rPr lang="fr-FR" smtClean="0"/>
              <a:t>02/05/2025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5EAE7D-2230-104C-9EAA-1081832B3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406D36-6B53-4A4F-9E5E-3F608D89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10E38-6B3D-364C-BBB4-3AE35B9ADBB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4430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13FF2F1-A3C7-D746-A655-DC208EF3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CCA0-A337-E64F-87FC-0CE0B8203967}" type="datetimeFigureOut">
              <a:rPr lang="fr-FR" smtClean="0"/>
              <a:t>02/05/2025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6C85103-ECB2-1F4B-BF31-FAB96AB72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862BB0-3356-8645-AFBF-71C9B36A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10E38-6B3D-364C-BBB4-3AE35B9ADBB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652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2DB31C-6742-4442-9ACB-B5147A8FF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311742-6CB0-DB44-B65D-13A3CDEB2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E96B7A-3741-E948-9C78-F4B77729C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6AC4B1-1FEF-3A4E-9D3E-4EAA61A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CCA0-A337-E64F-87FC-0CE0B8203967}" type="datetimeFigureOut">
              <a:rPr lang="fr-FR" smtClean="0"/>
              <a:t>02/05/2025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BDC2C0-E24D-3746-A0DF-FC71ACFD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5B679E2-6DA7-E649-8876-C44F7437E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10E38-6B3D-364C-BBB4-3AE35B9ADBB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744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23D74D-4E62-764F-90DD-F4A131729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D9E06F-CF7E-A444-BE61-0DA69E4DA1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67A06A-24FB-C441-AAEC-FE7815320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D05A6-AC24-A744-813D-EF3DD1B1D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CCA0-A337-E64F-87FC-0CE0B8203967}" type="datetimeFigureOut">
              <a:rPr lang="fr-FR" smtClean="0"/>
              <a:t>02/05/2025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0D9A4B-33AD-3D4E-834F-20516425A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5E10EF1-41DE-DF46-AC51-A64AE56AC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10E38-6B3D-364C-BBB4-3AE35B9ADBB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4467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E384A7-4C98-9D41-9AF1-104B0CCDC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281AACC-368E-5844-80D5-FDAEC1589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F5C743-F996-404C-BCC3-33A5BD8D4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CCA0-A337-E64F-87FC-0CE0B8203967}" type="datetimeFigureOut">
              <a:rPr lang="fr-FR" smtClean="0"/>
              <a:t>02/05/2025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405244-4BF0-9B4E-8810-1A0FF690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7AD7B9-B6E0-D14F-A129-EDAF31BD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10E38-6B3D-364C-BBB4-3AE35B9ADBB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2463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38B8A96-3906-0643-A2CD-62E4ED910B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9F588BD-19E3-A64A-AC28-179601361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C994C8-1974-C040-8322-C2B720F8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CCA0-A337-E64F-87FC-0CE0B8203967}" type="datetimeFigureOut">
              <a:rPr lang="fr-FR" smtClean="0"/>
              <a:t>02/05/2025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089FB0-4B30-3C47-8C6D-9FA82FA10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010EB1-788C-504E-8A02-CD0D4BCC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10E38-6B3D-364C-BBB4-3AE35B9ADBB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2204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93199AB-0145-0446-BD1E-1682EC6CA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7970A3-9F2F-E84D-AE53-F893ADD1D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16446B-1ED8-A44D-94D1-B78BF12D5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9CCA0-A337-E64F-87FC-0CE0B8203967}" type="datetimeFigureOut">
              <a:rPr lang="fr-FR" smtClean="0"/>
              <a:t>02/05/2025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13FAA4-86AD-E846-B956-50E3EE501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F4D008-C782-FF41-93DE-7CAF34092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10E38-6B3D-364C-BBB4-3AE35B9ADBB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0795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1DAE7EB-3387-1B42-8564-4F78A782A8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" b="64"/>
          <a:stretch/>
        </p:blipFill>
        <p:spPr>
          <a:xfrm>
            <a:off x="-513893" y="0"/>
            <a:ext cx="6049753" cy="1229371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56103B5-4194-804E-A1E5-97C4D0EB9DEB}"/>
              </a:ext>
            </a:extLst>
          </p:cNvPr>
          <p:cNvSpPr/>
          <p:nvPr/>
        </p:nvSpPr>
        <p:spPr>
          <a:xfrm>
            <a:off x="3052036" y="1"/>
            <a:ext cx="9139964" cy="1229370"/>
          </a:xfrm>
          <a:prstGeom prst="rect">
            <a:avLst/>
          </a:prstGeom>
          <a:solidFill>
            <a:srgbClr val="16538E"/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EFF426D-5002-8A4E-9AD5-DBF6D5B3DDF0}"/>
              </a:ext>
            </a:extLst>
          </p:cNvPr>
          <p:cNvSpPr txBox="1"/>
          <p:nvPr/>
        </p:nvSpPr>
        <p:spPr>
          <a:xfrm>
            <a:off x="335134" y="0"/>
            <a:ext cx="11755949" cy="1220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40"/>
              </a:lnSpc>
            </a:pPr>
            <a:r>
              <a:rPr lang="fr-FR" sz="2700" b="1" dirty="0">
                <a:solidFill>
                  <a:schemeClr val="bg1"/>
                </a:solidFill>
                <a:cs typeface="Arial" panose="020B0604020202020204" pitchFamily="34" charset="0"/>
              </a:rPr>
              <a:t>Beta-</a:t>
            </a:r>
            <a:r>
              <a:rPr lang="fr-FR" sz="2700" b="1" dirty="0" err="1">
                <a:solidFill>
                  <a:schemeClr val="bg1"/>
                </a:solidFill>
                <a:cs typeface="Arial" panose="020B0604020202020204" pitchFamily="34" charset="0"/>
              </a:rPr>
              <a:t>lactam</a:t>
            </a:r>
            <a:r>
              <a:rPr lang="fr-FR" sz="27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fr-FR" sz="2700" b="1" dirty="0" err="1">
                <a:solidFill>
                  <a:schemeClr val="bg1"/>
                </a:solidFill>
                <a:cs typeface="Arial" panose="020B0604020202020204" pitchFamily="34" charset="0"/>
              </a:rPr>
              <a:t>antibiotics</a:t>
            </a:r>
            <a:r>
              <a:rPr lang="fr-FR" sz="27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fr-FR" sz="2700" b="1" dirty="0" err="1">
                <a:solidFill>
                  <a:schemeClr val="bg1"/>
                </a:solidFill>
                <a:cs typeface="Arial" panose="020B0604020202020204" pitchFamily="34" charset="0"/>
              </a:rPr>
              <a:t>exacerbate</a:t>
            </a:r>
            <a:r>
              <a:rPr lang="fr-FR" sz="27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fr-FR" sz="2700" b="1" dirty="0" err="1">
                <a:solidFill>
                  <a:schemeClr val="bg1"/>
                </a:solidFill>
                <a:cs typeface="Arial" panose="020B0604020202020204" pitchFamily="34" charset="0"/>
              </a:rPr>
              <a:t>features</a:t>
            </a:r>
            <a:r>
              <a:rPr lang="fr-FR" sz="2700" b="1" dirty="0">
                <a:solidFill>
                  <a:schemeClr val="bg1"/>
                </a:solidFill>
                <a:cs typeface="Arial" panose="020B0604020202020204" pitchFamily="34" charset="0"/>
              </a:rPr>
              <a:t> of sepsis-</a:t>
            </a:r>
            <a:r>
              <a:rPr lang="fr-FR" sz="2700" b="1" dirty="0" err="1">
                <a:solidFill>
                  <a:schemeClr val="bg1"/>
                </a:solidFill>
                <a:cs typeface="Arial" panose="020B0604020202020204" pitchFamily="34" charset="0"/>
              </a:rPr>
              <a:t>induced</a:t>
            </a:r>
            <a:r>
              <a:rPr lang="fr-FR" sz="2700" b="1" dirty="0">
                <a:solidFill>
                  <a:schemeClr val="bg1"/>
                </a:solidFill>
                <a:cs typeface="Arial" panose="020B0604020202020204" pitchFamily="34" charset="0"/>
              </a:rPr>
              <a:t> immunosuppression in vitro</a:t>
            </a:r>
          </a:p>
          <a:p>
            <a:r>
              <a:rPr lang="en-US" sz="100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</a:rPr>
              <a:t>Charoenpong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</a:rPr>
              <a:t> S, Kim H, Snow TAC, </a:t>
            </a:r>
            <a:r>
              <a:rPr lang="en-US" sz="100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</a:rPr>
              <a:t>Carthigesan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</a:rPr>
              <a:t> K, Cesar A, </a:t>
            </a:r>
            <a:r>
              <a:rPr lang="en-US" sz="100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</a:rPr>
              <a:t>Ryckaert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</a:rPr>
              <a:t> F, Saleem N, Waller AV, Singer M, </a:t>
            </a:r>
            <a:r>
              <a:rPr lang="en-US" sz="100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</a:rPr>
              <a:t>Elkhodair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</a:rPr>
              <a:t> S, Brealey D, Arulkumaran N</a:t>
            </a:r>
            <a:endParaRPr lang="fr-FR" sz="1000" b="1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r>
              <a:rPr lang="fr-FR" sz="1000" b="1" dirty="0">
                <a:solidFill>
                  <a:schemeClr val="bg1"/>
                </a:solidFill>
                <a:cs typeface="Arial" panose="020B0604020202020204" pitchFamily="34" charset="0"/>
              </a:rPr>
              <a:t>Bloomsbury Institute of intensive Care </a:t>
            </a:r>
            <a:r>
              <a:rPr lang="fr-FR" sz="1000" b="1" dirty="0" err="1">
                <a:solidFill>
                  <a:schemeClr val="bg1"/>
                </a:solidFill>
                <a:cs typeface="Arial" panose="020B0604020202020204" pitchFamily="34" charset="0"/>
              </a:rPr>
              <a:t>Medicine</a:t>
            </a:r>
            <a:r>
              <a:rPr lang="fr-FR" sz="1000" b="1" dirty="0"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fr-FR" sz="1000" b="1" dirty="0" err="1">
                <a:solidFill>
                  <a:schemeClr val="bg1"/>
                </a:solidFill>
                <a:cs typeface="Arial" panose="020B0604020202020204" pitchFamily="34" charset="0"/>
              </a:rPr>
              <a:t>University</a:t>
            </a:r>
            <a:r>
              <a:rPr lang="fr-FR" sz="10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fr-FR" sz="1000" b="1" dirty="0" err="1">
                <a:solidFill>
                  <a:schemeClr val="bg1"/>
                </a:solidFill>
                <a:cs typeface="Arial" panose="020B0604020202020204" pitchFamily="34" charset="0"/>
              </a:rPr>
              <a:t>College</a:t>
            </a:r>
            <a:r>
              <a:rPr lang="fr-FR" sz="1000" b="1" dirty="0">
                <a:solidFill>
                  <a:schemeClr val="bg1"/>
                </a:solidFill>
                <a:cs typeface="Arial" panose="020B0604020202020204" pitchFamily="34" charset="0"/>
              </a:rPr>
              <a:t> London,  London, United </a:t>
            </a:r>
            <a:r>
              <a:rPr lang="fr-FR" sz="1000" b="1" dirty="0" err="1">
                <a:solidFill>
                  <a:schemeClr val="bg1"/>
                </a:solidFill>
                <a:cs typeface="Arial" panose="020B0604020202020204" pitchFamily="34" charset="0"/>
              </a:rPr>
              <a:t>Kingdom</a:t>
            </a:r>
            <a:endParaRPr lang="fr-FR" sz="1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2ECFF3-916E-4741-811C-18FA3ABEF841}"/>
              </a:ext>
            </a:extLst>
          </p:cNvPr>
          <p:cNvSpPr/>
          <p:nvPr/>
        </p:nvSpPr>
        <p:spPr>
          <a:xfrm>
            <a:off x="176221" y="1358262"/>
            <a:ext cx="2789220" cy="24647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fr-FR" b="1" dirty="0">
                <a:solidFill>
                  <a:srgbClr val="005096"/>
                </a:solidFill>
                <a:cs typeface="Arial" panose="020B0604020202020204" pitchFamily="34" charset="0"/>
              </a:rPr>
              <a:t>INTRODUCTION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Sepsis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is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a major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health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care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problem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with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a high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mortality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Beta-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lactam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antibiotics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are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commonly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prescribed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in sepsis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Antibiotics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are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known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to affect immune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cell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function</a:t>
            </a:r>
            <a:endParaRPr lang="fr-FR" sz="10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The adverse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effects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of beta-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lactams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on immune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cell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function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are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relatievly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unexplored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0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r>
              <a:rPr lang="fr-FR" b="1" dirty="0">
                <a:solidFill>
                  <a:srgbClr val="005096"/>
                </a:solidFill>
                <a:cs typeface="Arial" panose="020B0604020202020204" pitchFamily="34" charset="0"/>
              </a:rPr>
              <a:t>HYPOTHESIS</a:t>
            </a:r>
            <a:endParaRPr lang="fr-FR" sz="10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We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hypothesised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that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beta-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lactams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exacerbate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features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of sepsis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induced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immunosuppression</a:t>
            </a:r>
          </a:p>
          <a:p>
            <a:endParaRPr lang="fr-FR" sz="10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endParaRPr lang="fr-FR" sz="10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endParaRPr lang="fr-FR" sz="900" dirty="0">
              <a:solidFill>
                <a:srgbClr val="00509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900" dirty="0">
              <a:solidFill>
                <a:srgbClr val="00509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74E11B-E1B9-F343-850B-7539D649FF55}"/>
              </a:ext>
            </a:extLst>
          </p:cNvPr>
          <p:cNvSpPr/>
          <p:nvPr/>
        </p:nvSpPr>
        <p:spPr>
          <a:xfrm>
            <a:off x="9011920" y="1537457"/>
            <a:ext cx="2744189" cy="41511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fr-FR" b="1" dirty="0">
                <a:solidFill>
                  <a:srgbClr val="005096"/>
                </a:solidFill>
                <a:cs typeface="Arial" panose="020B0604020202020204" pitchFamily="34" charset="0"/>
              </a:rPr>
              <a:t>CONCLUSION</a:t>
            </a:r>
            <a:endParaRPr lang="fr-FR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5096"/>
                </a:solidFill>
                <a:cs typeface="Arial" panose="020B0604020202020204" pitchFamily="34" charset="0"/>
              </a:rPr>
              <a:t>Beta-lactam antibiotics induced a number of phenotypic changes consistent with sepsis-induced immunosuppression in both monocytes and CD4 lymphocytes.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5096"/>
                </a:solidFill>
                <a:cs typeface="Arial" panose="020B0604020202020204" pitchFamily="34" charset="0"/>
              </a:rPr>
              <a:t>It needs to be evaluated if these changes occur </a:t>
            </a:r>
            <a:r>
              <a:rPr lang="en-US" sz="1000" i="1" dirty="0">
                <a:solidFill>
                  <a:srgbClr val="005096"/>
                </a:solidFill>
                <a:cs typeface="Arial" panose="020B0604020202020204" pitchFamily="34" charset="0"/>
              </a:rPr>
              <a:t>in vivo</a:t>
            </a:r>
            <a:r>
              <a:rPr lang="en-US" sz="1000" dirty="0">
                <a:solidFill>
                  <a:srgbClr val="005096"/>
                </a:solidFill>
                <a:cs typeface="Arial" panose="020B0604020202020204" pitchFamily="34" charset="0"/>
              </a:rPr>
              <a:t>, and the functional consequences</a:t>
            </a:r>
          </a:p>
          <a:p>
            <a:endParaRPr lang="en-US" sz="10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endParaRPr lang="en-US" sz="10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r>
              <a:rPr lang="en-GB" b="1" dirty="0">
                <a:solidFill>
                  <a:srgbClr val="005096"/>
                </a:solidFill>
                <a:cs typeface="Arial" panose="020B0604020202020204" pitchFamily="34" charset="0"/>
              </a:rPr>
              <a:t>GRANT FUNDING</a:t>
            </a:r>
          </a:p>
          <a:p>
            <a:r>
              <a:rPr lang="en-GB" sz="900" dirty="0">
                <a:solidFill>
                  <a:srgbClr val="095096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Intensive Care Society New Investigator Award, ESICM Next Start Up, UCL Precision AMR Seed Funding Grant</a:t>
            </a:r>
            <a:endParaRPr lang="en-GB" sz="900" dirty="0">
              <a:solidFill>
                <a:srgbClr val="095096"/>
              </a:solidFill>
              <a:cs typeface="Arial" panose="020B0604020202020204" pitchFamily="34" charset="0"/>
            </a:endParaRPr>
          </a:p>
          <a:p>
            <a:endParaRPr lang="en-GB" sz="8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pPr marL="136525" indent="-136525"/>
            <a:endParaRPr lang="en-GB" b="1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pPr marL="136525" indent="-136525"/>
            <a:r>
              <a:rPr lang="en-GB" b="1" dirty="0">
                <a:solidFill>
                  <a:srgbClr val="005096"/>
                </a:solidFill>
                <a:cs typeface="Arial" panose="020B0604020202020204" pitchFamily="34" charset="0"/>
              </a:rPr>
              <a:t>REFERENCES</a:t>
            </a:r>
          </a:p>
          <a:p>
            <a:pPr marL="180975" indent="-180975"/>
            <a:r>
              <a:rPr lang="en-US" sz="800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1.	</a:t>
            </a:r>
            <a:r>
              <a:rPr lang="en-US" sz="900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Arulkumaran, N., et al., </a:t>
            </a:r>
            <a:r>
              <a:rPr lang="en-US" sz="900" i="1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Antimicrobial-associated harm in critical care: a narrative review.</a:t>
            </a:r>
            <a:r>
              <a:rPr lang="en-US" sz="900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Intensive Care Med, 2020. </a:t>
            </a:r>
            <a:r>
              <a:rPr lang="en-US" sz="900" b="1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46</a:t>
            </a:r>
            <a:r>
              <a:rPr lang="en-US" sz="900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(2): p. 225-235.</a:t>
            </a:r>
            <a:endParaRPr lang="en-GB" sz="900" kern="100" dirty="0">
              <a:solidFill>
                <a:srgbClr val="095096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80975" indent="-180975"/>
            <a:r>
              <a:rPr lang="en-US" sz="900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2.	Miller, M., et al., </a:t>
            </a:r>
            <a:r>
              <a:rPr lang="en-US" sz="900" i="1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Antibiotics, Sedatives, and Catecholamines Further Compromise Sepsis-Induced Immune Suppression in Peripheral Blood Mononuclear Cells.</a:t>
            </a:r>
            <a:r>
              <a:rPr lang="en-US" sz="900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Crit Care Med, 2024. </a:t>
            </a:r>
            <a:r>
              <a:rPr lang="en-US" sz="900" b="1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52</a:t>
            </a:r>
            <a:r>
              <a:rPr lang="en-US" sz="900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(4): p. 596-606.</a:t>
            </a:r>
            <a:endParaRPr lang="en-GB" sz="900" kern="100" dirty="0">
              <a:solidFill>
                <a:srgbClr val="095096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80975" indent="-180975"/>
            <a:r>
              <a:rPr lang="en-US" sz="900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3.	Lonsdale, D.O., et al., </a:t>
            </a:r>
            <a:r>
              <a:rPr lang="en-US" sz="900" i="1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beta-Lactam antimicrobial pharmacokinetics and target attainment in critically ill patients aged 1 day to 90 years: the </a:t>
            </a:r>
            <a:r>
              <a:rPr lang="en-US" sz="900" i="1" kern="100" dirty="0" err="1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ABDose</a:t>
            </a:r>
            <a:r>
              <a:rPr lang="en-US" sz="900" i="1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study.</a:t>
            </a:r>
            <a:r>
              <a:rPr lang="en-US" sz="900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J </a:t>
            </a:r>
            <a:r>
              <a:rPr lang="en-US" sz="900" kern="100" dirty="0" err="1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Antimicrob</a:t>
            </a:r>
            <a:r>
              <a:rPr lang="en-US" sz="900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900" kern="100" dirty="0" err="1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Chemother</a:t>
            </a:r>
            <a:r>
              <a:rPr lang="en-US" sz="900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2020. </a:t>
            </a:r>
            <a:r>
              <a:rPr lang="en-US" sz="900" b="1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75</a:t>
            </a:r>
            <a:r>
              <a:rPr lang="en-US" sz="900" kern="100" dirty="0">
                <a:solidFill>
                  <a:srgbClr val="09509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(12): p. 3625-3634.</a:t>
            </a:r>
            <a:r>
              <a:rPr lang="en-US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endParaRPr lang="en-US" sz="10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endParaRPr lang="fr-FR" sz="10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endParaRPr lang="fr-FR" sz="900" dirty="0">
              <a:solidFill>
                <a:srgbClr val="00509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6DB9D4-5463-78F1-D8CA-C95C6BC18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25342"/>
              </p:ext>
            </p:extLst>
          </p:nvPr>
        </p:nvGraphicFramePr>
        <p:xfrm>
          <a:off x="3260055" y="1679494"/>
          <a:ext cx="5351011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836">
                  <a:extLst>
                    <a:ext uri="{9D8B030D-6E8A-4147-A177-3AD203B41FA5}">
                      <a16:colId xmlns:a16="http://schemas.microsoft.com/office/drawing/2014/main" val="4277880231"/>
                    </a:ext>
                  </a:extLst>
                </a:gridCol>
                <a:gridCol w="883721">
                  <a:extLst>
                    <a:ext uri="{9D8B030D-6E8A-4147-A177-3AD203B41FA5}">
                      <a16:colId xmlns:a16="http://schemas.microsoft.com/office/drawing/2014/main" val="2565910718"/>
                    </a:ext>
                  </a:extLst>
                </a:gridCol>
                <a:gridCol w="899946">
                  <a:extLst>
                    <a:ext uri="{9D8B030D-6E8A-4147-A177-3AD203B41FA5}">
                      <a16:colId xmlns:a16="http://schemas.microsoft.com/office/drawing/2014/main" val="3080800652"/>
                    </a:ext>
                  </a:extLst>
                </a:gridCol>
                <a:gridCol w="891836">
                  <a:extLst>
                    <a:ext uri="{9D8B030D-6E8A-4147-A177-3AD203B41FA5}">
                      <a16:colId xmlns:a16="http://schemas.microsoft.com/office/drawing/2014/main" val="3502584453"/>
                    </a:ext>
                  </a:extLst>
                </a:gridCol>
                <a:gridCol w="891836">
                  <a:extLst>
                    <a:ext uri="{9D8B030D-6E8A-4147-A177-3AD203B41FA5}">
                      <a16:colId xmlns:a16="http://schemas.microsoft.com/office/drawing/2014/main" val="1423218872"/>
                    </a:ext>
                  </a:extLst>
                </a:gridCol>
                <a:gridCol w="891836">
                  <a:extLst>
                    <a:ext uri="{9D8B030D-6E8A-4147-A177-3AD203B41FA5}">
                      <a16:colId xmlns:a16="http://schemas.microsoft.com/office/drawing/2014/main" val="1377135977"/>
                    </a:ext>
                  </a:extLst>
                </a:gridCol>
              </a:tblGrid>
              <a:tr h="309883">
                <a:tc>
                  <a:txBody>
                    <a:bodyPr/>
                    <a:lstStyle/>
                    <a:p>
                      <a:r>
                        <a:rPr lang="en-US" sz="900" dirty="0"/>
                        <a:t>Monocyte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 dirty="0"/>
                        <a:t>Antigen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 dirty="0"/>
                        <a:t>Cefuroxime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dirty="0"/>
                        <a:t>Meropenem</a:t>
                      </a:r>
                    </a:p>
                    <a:p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dirty="0"/>
                        <a:t>Amoxicillin</a:t>
                      </a:r>
                    </a:p>
                    <a:p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dirty="0"/>
                        <a:t>Piperacilin</a:t>
                      </a:r>
                    </a:p>
                    <a:p>
                      <a:endParaRPr lang="en-TH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948543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r>
                        <a:rPr lang="en-GB" sz="900" dirty="0"/>
                        <a:t>Chemokines</a:t>
                      </a:r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CCR2</a:t>
                      </a:r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>
                          <a:solidFill>
                            <a:srgbClr val="00B050"/>
                          </a:solidFill>
                        </a:rPr>
                        <a:t>↑</a:t>
                      </a:r>
                      <a:endParaRPr lang="en-TH" sz="9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>
                          <a:solidFill>
                            <a:srgbClr val="00B050"/>
                          </a:solidFill>
                        </a:rPr>
                        <a:t>↑</a:t>
                      </a:r>
                      <a:endParaRPr lang="en-TH" sz="9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b="1"/>
                        <a:t>-</a:t>
                      </a:r>
                      <a:endParaRPr lang="en-TH" sz="900" b="1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>
                          <a:solidFill>
                            <a:srgbClr val="00B050"/>
                          </a:solidFill>
                        </a:rPr>
                        <a:t>↑</a:t>
                      </a:r>
                      <a:endParaRPr lang="en-TH" sz="9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501428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r>
                        <a:rPr lang="en-TH" sz="900" dirty="0"/>
                        <a:t>Co-stimulation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 dirty="0"/>
                        <a:t>CD80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/>
                        <a:t>-</a:t>
                      </a:r>
                      <a:endParaRPr lang="en-TH" sz="9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/>
                        <a:t>-</a:t>
                      </a:r>
                      <a:endParaRPr lang="en-TH" sz="9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280244"/>
                  </a:ext>
                </a:extLst>
              </a:tr>
              <a:tr h="193677">
                <a:tc rowSpan="2">
                  <a:txBody>
                    <a:bodyPr/>
                    <a:lstStyle/>
                    <a:p>
                      <a:r>
                        <a:rPr lang="en-TH" sz="900" dirty="0"/>
                        <a:t>Antigen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CLIP</a:t>
                      </a:r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↓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↓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↓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b="1"/>
                        <a:t>-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911247"/>
                  </a:ext>
                </a:extLst>
              </a:tr>
              <a:tr h="193677">
                <a:tc vMerge="1"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/>
                        <a:t>HLA-DR</a:t>
                      </a:r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/>
                        <a:t>-</a:t>
                      </a:r>
                      <a:endParaRPr lang="en-TH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b="1"/>
                        <a:t>-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↓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b="1"/>
                        <a:t>-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888078"/>
                  </a:ext>
                </a:extLst>
              </a:tr>
              <a:tr h="193677">
                <a:tc>
                  <a:txBody>
                    <a:bodyPr/>
                    <a:lstStyle/>
                    <a:p>
                      <a:r>
                        <a:rPr lang="en-TH" sz="900" dirty="0"/>
                        <a:t>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 dirty="0"/>
                        <a:t>NF-kB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b="1"/>
                        <a:t>-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↓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↓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176748"/>
                  </a:ext>
                </a:extLst>
              </a:tr>
              <a:tr h="19367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Intracellular Cytokine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 dirty="0"/>
                        <a:t>IFN-y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/>
                        <a:t>-</a:t>
                      </a:r>
                      <a:endParaRPr lang="en-TH" sz="9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265914"/>
                  </a:ext>
                </a:extLst>
              </a:tr>
              <a:tr h="202255">
                <a:tc vMerge="1"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 dirty="0"/>
                        <a:t>IL-10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/>
                        <a:t>-</a:t>
                      </a:r>
                      <a:endParaRPr lang="en-TH" sz="9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831668"/>
                  </a:ext>
                </a:extLst>
              </a:tr>
              <a:tr h="193677">
                <a:tc rowSpan="2">
                  <a:txBody>
                    <a:bodyPr/>
                    <a:lstStyle/>
                    <a:p>
                      <a:r>
                        <a:rPr lang="en-TH" sz="900" dirty="0"/>
                        <a:t>Phagocytosis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 dirty="0"/>
                        <a:t>NOX-2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en-TH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en-TH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092458"/>
                  </a:ext>
                </a:extLst>
              </a:tr>
              <a:tr h="193677">
                <a:tc vMerge="1">
                  <a:txBody>
                    <a:bodyPr/>
                    <a:lstStyle/>
                    <a:p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FcyR1</a:t>
                      </a:r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>
                          <a:solidFill>
                            <a:srgbClr val="FF0000"/>
                          </a:solidFill>
                        </a:rPr>
                        <a:t>↓</a:t>
                      </a:r>
                      <a:endParaRPr lang="en-TH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>
                          <a:solidFill>
                            <a:srgbClr val="FF0000"/>
                          </a:solidFill>
                        </a:rP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>
                          <a:solidFill>
                            <a:srgbClr val="FF0000"/>
                          </a:solidFill>
                        </a:rPr>
                        <a:t>↓</a:t>
                      </a:r>
                      <a:endParaRPr lang="en-TH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080126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EB4C2772-AED0-E097-35F3-BEDA76E62204}"/>
              </a:ext>
            </a:extLst>
          </p:cNvPr>
          <p:cNvSpPr/>
          <p:nvPr/>
        </p:nvSpPr>
        <p:spPr>
          <a:xfrm>
            <a:off x="3374610" y="1349735"/>
            <a:ext cx="5526385" cy="1758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fr-FR" b="1" dirty="0">
                <a:solidFill>
                  <a:srgbClr val="005096"/>
                </a:solidFill>
                <a:cs typeface="Arial" panose="020B0604020202020204" pitchFamily="34" charset="0"/>
              </a:rPr>
              <a:t>RESULTS</a:t>
            </a:r>
          </a:p>
          <a:p>
            <a:endParaRPr lang="fr-FR" sz="900" dirty="0">
              <a:solidFill>
                <a:srgbClr val="00509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87AE2F-F8A8-5DE0-D120-2BF8F664369A}"/>
              </a:ext>
            </a:extLst>
          </p:cNvPr>
          <p:cNvSpPr txBox="1"/>
          <p:nvPr/>
        </p:nvSpPr>
        <p:spPr>
          <a:xfrm>
            <a:off x="5044794" y="1414730"/>
            <a:ext cx="408858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TH" sz="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↑ Significantly increase</a:t>
            </a:r>
            <a:r>
              <a:rPr lang="en-TH" sz="800" dirty="0">
                <a:solidFill>
                  <a:srgbClr val="00B050"/>
                </a:solidFill>
                <a:latin typeface="Calibri" panose="020F0502020204030204"/>
              </a:rPr>
              <a:t> </a:t>
            </a:r>
            <a:r>
              <a:rPr kumimoji="0" lang="en-TH" sz="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↓Significantly decrease </a:t>
            </a:r>
            <a:r>
              <a:rPr kumimoji="0" lang="en-TH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No Statistically significant change</a:t>
            </a:r>
            <a:endParaRPr kumimoji="0" lang="en-TH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TH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5D21241-8981-F422-B8E7-C40E318E2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0610" y="610423"/>
            <a:ext cx="2121390" cy="6245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94299A4-92C7-0F4A-01AD-6010EF200E45}"/>
              </a:ext>
            </a:extLst>
          </p:cNvPr>
          <p:cNvSpPr/>
          <p:nvPr/>
        </p:nvSpPr>
        <p:spPr>
          <a:xfrm>
            <a:off x="176221" y="4777135"/>
            <a:ext cx="2875815" cy="15863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fr-FR" b="1" dirty="0">
                <a:solidFill>
                  <a:srgbClr val="005096"/>
                </a:solidFill>
                <a:cs typeface="Arial" panose="020B0604020202020204" pitchFamily="34" charset="0"/>
              </a:rPr>
              <a:t>METHODS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PBMCs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isolated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from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patients (n=30)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presenting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to the emergency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department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with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pneumonia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were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isolated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PBMCs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were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cultured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+/-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with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antibiotics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in the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presence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of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heat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killed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bacteria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or CD3/CD28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beads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for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assessment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of monocyte or lymphocyte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function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respectively</a:t>
            </a:r>
            <a:endParaRPr lang="fr-FR" sz="10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Monocyte and lymphocyte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function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were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assessed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using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flow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cytometry</a:t>
            </a:r>
            <a:endParaRPr lang="fr-FR" sz="10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endParaRPr lang="fr-FR" sz="10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endParaRPr lang="fr-FR" sz="10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endParaRPr lang="fr-FR" sz="1000" dirty="0">
              <a:solidFill>
                <a:srgbClr val="005096"/>
              </a:solidFill>
              <a:cs typeface="Arial" panose="020B0604020202020204" pitchFamily="34" charset="0"/>
            </a:endParaRPr>
          </a:p>
          <a:p>
            <a:endParaRPr lang="fr-FR" sz="900" dirty="0">
              <a:solidFill>
                <a:srgbClr val="00509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900" dirty="0">
              <a:solidFill>
                <a:srgbClr val="00509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420CB13-02EE-6E2F-76C7-07AD47EC9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798188"/>
              </p:ext>
            </p:extLst>
          </p:nvPr>
        </p:nvGraphicFramePr>
        <p:xfrm>
          <a:off x="3260054" y="4225381"/>
          <a:ext cx="5351011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5897">
                  <a:extLst>
                    <a:ext uri="{9D8B030D-6E8A-4147-A177-3AD203B41FA5}">
                      <a16:colId xmlns:a16="http://schemas.microsoft.com/office/drawing/2014/main" val="4277880231"/>
                    </a:ext>
                  </a:extLst>
                </a:gridCol>
                <a:gridCol w="606078">
                  <a:extLst>
                    <a:ext uri="{9D8B030D-6E8A-4147-A177-3AD203B41FA5}">
                      <a16:colId xmlns:a16="http://schemas.microsoft.com/office/drawing/2014/main" val="2565910718"/>
                    </a:ext>
                  </a:extLst>
                </a:gridCol>
                <a:gridCol w="918469">
                  <a:extLst>
                    <a:ext uri="{9D8B030D-6E8A-4147-A177-3AD203B41FA5}">
                      <a16:colId xmlns:a16="http://schemas.microsoft.com/office/drawing/2014/main" val="3080800652"/>
                    </a:ext>
                  </a:extLst>
                </a:gridCol>
                <a:gridCol w="910189">
                  <a:extLst>
                    <a:ext uri="{9D8B030D-6E8A-4147-A177-3AD203B41FA5}">
                      <a16:colId xmlns:a16="http://schemas.microsoft.com/office/drawing/2014/main" val="3502584453"/>
                    </a:ext>
                  </a:extLst>
                </a:gridCol>
                <a:gridCol w="910189">
                  <a:extLst>
                    <a:ext uri="{9D8B030D-6E8A-4147-A177-3AD203B41FA5}">
                      <a16:colId xmlns:a16="http://schemas.microsoft.com/office/drawing/2014/main" val="1423218872"/>
                    </a:ext>
                  </a:extLst>
                </a:gridCol>
                <a:gridCol w="910189">
                  <a:extLst>
                    <a:ext uri="{9D8B030D-6E8A-4147-A177-3AD203B41FA5}">
                      <a16:colId xmlns:a16="http://schemas.microsoft.com/office/drawing/2014/main" val="1377135977"/>
                    </a:ext>
                  </a:extLst>
                </a:gridCol>
              </a:tblGrid>
              <a:tr h="334091">
                <a:tc>
                  <a:txBody>
                    <a:bodyPr/>
                    <a:lstStyle/>
                    <a:p>
                      <a:r>
                        <a:rPr lang="en-US" sz="900" dirty="0"/>
                        <a:t>CD4+ lymphocytes</a:t>
                      </a:r>
                    </a:p>
                    <a:p>
                      <a:r>
                        <a:rPr lang="en-US" sz="900" dirty="0"/>
                        <a:t>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 dirty="0"/>
                        <a:t>Antigen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 dirty="0"/>
                        <a:t>Cefuroxime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dirty="0"/>
                        <a:t>Meropenem</a:t>
                      </a:r>
                    </a:p>
                    <a:p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dirty="0"/>
                        <a:t>Amoxicillin</a:t>
                      </a:r>
                    </a:p>
                    <a:p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dirty="0"/>
                        <a:t>Piperacilin</a:t>
                      </a:r>
                    </a:p>
                    <a:p>
                      <a:endParaRPr lang="en-TH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948543"/>
                  </a:ext>
                </a:extLst>
              </a:tr>
              <a:tr h="208807">
                <a:tc rowSpan="2">
                  <a:txBody>
                    <a:bodyPr/>
                    <a:lstStyle/>
                    <a:p>
                      <a:r>
                        <a:rPr lang="en-TH" sz="900" dirty="0"/>
                        <a:t>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 dirty="0"/>
                        <a:t>NF-kB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b="1"/>
                        <a:t>-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b="1"/>
                        <a:t>-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b="1"/>
                        <a:t>-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422129"/>
                  </a:ext>
                </a:extLst>
              </a:tr>
              <a:tr h="208807">
                <a:tc vMerge="1"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 dirty="0"/>
                        <a:t>CD4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b="1"/>
                        <a:t>-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en-TH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280244"/>
                  </a:ext>
                </a:extLst>
              </a:tr>
              <a:tr h="208807">
                <a:tc>
                  <a:txBody>
                    <a:bodyPr/>
                    <a:lstStyle/>
                    <a:p>
                      <a:r>
                        <a:rPr lang="en-TH" sz="900" dirty="0"/>
                        <a:t>Suppression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/>
                        <a:t>C</a:t>
                      </a:r>
                      <a:r>
                        <a:rPr lang="en-GB" sz="900" dirty="0"/>
                        <a:t>TLA-4</a:t>
                      </a:r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↑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↑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b="1"/>
                        <a:t>-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b="1"/>
                        <a:t>-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911247"/>
                  </a:ext>
                </a:extLst>
              </a:tr>
              <a:tr h="208807">
                <a:tc>
                  <a:txBody>
                    <a:bodyPr/>
                    <a:lstStyle/>
                    <a:p>
                      <a:r>
                        <a:rPr lang="en-TH" sz="900" dirty="0"/>
                        <a:t>Proliferation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IL-7R</a:t>
                      </a:r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>
                          <a:solidFill>
                            <a:srgbClr val="00B050"/>
                          </a:solidFill>
                        </a:rPr>
                        <a:t>↑</a:t>
                      </a:r>
                      <a:endParaRPr lang="en-TH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176748"/>
                  </a:ext>
                </a:extLst>
              </a:tr>
              <a:tr h="2088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dirty="0"/>
                        <a:t>Differentiation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/>
                        <a:t>FOX</a:t>
                      </a:r>
                      <a:r>
                        <a:rPr lang="en-GB" sz="900" dirty="0"/>
                        <a:t>-P</a:t>
                      </a:r>
                      <a:r>
                        <a:rPr lang="en-TH" sz="900"/>
                        <a:t>3</a:t>
                      </a:r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376926"/>
                  </a:ext>
                </a:extLst>
              </a:tr>
              <a:tr h="208807">
                <a:tc rowSpan="2">
                  <a:txBody>
                    <a:bodyPr/>
                    <a:lstStyle/>
                    <a:p>
                      <a:r>
                        <a:rPr lang="en-GB" sz="900" dirty="0"/>
                        <a:t>Cytokines</a:t>
                      </a:r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 dirty="0"/>
                        <a:t>IFN-y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/>
                        <a:t>-</a:t>
                      </a:r>
                      <a:endParaRPr lang="en-TH" sz="9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729917"/>
                  </a:ext>
                </a:extLst>
              </a:tr>
              <a:tr h="208807">
                <a:tc vMerge="1"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900" dirty="0"/>
                        <a:t>IL-10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b="1"/>
                        <a:t>-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094205"/>
                  </a:ext>
                </a:extLst>
              </a:tr>
              <a:tr h="208807">
                <a:tc rowSpan="2">
                  <a:txBody>
                    <a:bodyPr/>
                    <a:lstStyle/>
                    <a:p>
                      <a:r>
                        <a:rPr lang="en-GB" sz="900" dirty="0"/>
                        <a:t>Apoptosis</a:t>
                      </a:r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PD-1</a:t>
                      </a:r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TH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351677"/>
                  </a:ext>
                </a:extLst>
              </a:tr>
              <a:tr h="208807">
                <a:tc vMerge="1">
                  <a:txBody>
                    <a:bodyPr/>
                    <a:lstStyle/>
                    <a:p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Viability</a:t>
                      </a:r>
                      <a:endParaRPr lang="en-TH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>
                          <a:solidFill>
                            <a:srgbClr val="00B050"/>
                          </a:solidFill>
                        </a:rPr>
                        <a:t>↑</a:t>
                      </a:r>
                      <a:endParaRPr lang="en-TH" sz="9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900" b="1">
                          <a:solidFill>
                            <a:srgbClr val="00B050"/>
                          </a:solidFill>
                        </a:rPr>
                        <a:t>↑</a:t>
                      </a:r>
                      <a:endParaRPr lang="en-TH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b="1">
                          <a:solidFill>
                            <a:srgbClr val="00B050"/>
                          </a:solidFill>
                        </a:rPr>
                        <a:t>↑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900" b="1" dirty="0">
                          <a:solidFill>
                            <a:srgbClr val="00B050"/>
                          </a:solidFill>
                        </a:rPr>
                        <a:t>↑</a:t>
                      </a:r>
                      <a:endParaRPr kumimoji="0" lang="en-TH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38146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7811A1B-2018-DE2A-4702-339165C8CC7E}"/>
              </a:ext>
            </a:extLst>
          </p:cNvPr>
          <p:cNvSpPr txBox="1"/>
          <p:nvPr/>
        </p:nvSpPr>
        <p:spPr>
          <a:xfrm>
            <a:off x="126214" y="3823028"/>
            <a:ext cx="3248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5096"/>
                </a:solidFill>
                <a:cs typeface="Arial" panose="020B0604020202020204" pitchFamily="34" charset="0"/>
              </a:rPr>
              <a:t>OBJECTIVES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To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evaluate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the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effect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of beta-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lactam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antibiotics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on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peripheral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blood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mononuclear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cells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 (</a:t>
            </a:r>
            <a:r>
              <a:rPr lang="fr-FR" sz="1000" dirty="0" err="1">
                <a:solidFill>
                  <a:srgbClr val="005096"/>
                </a:solidFill>
                <a:cs typeface="Arial" panose="020B0604020202020204" pitchFamily="34" charset="0"/>
              </a:rPr>
              <a:t>PBMCs</a:t>
            </a:r>
            <a:r>
              <a:rPr lang="fr-FR" sz="1000" dirty="0">
                <a:solidFill>
                  <a:srgbClr val="005096"/>
                </a:solidFill>
                <a:cs typeface="Arial" panose="020B0604020202020204" pitchFamily="34" charset="0"/>
              </a:rPr>
              <a:t>) </a:t>
            </a:r>
            <a:r>
              <a:rPr lang="fr-FR" sz="1000" i="1" dirty="0">
                <a:solidFill>
                  <a:srgbClr val="005096"/>
                </a:solidFill>
                <a:cs typeface="Arial" panose="020B0604020202020204" pitchFamily="34" charset="0"/>
              </a:rPr>
              <a:t>ex vivo</a:t>
            </a:r>
          </a:p>
          <a:p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265670325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6538E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9F922C9D201C4EA3107C093E07EABC" ma:contentTypeVersion="12" ma:contentTypeDescription="Crée un document." ma:contentTypeScope="" ma:versionID="1696087e81b3963722904b9b83ef32be">
  <xsd:schema xmlns:xsd="http://www.w3.org/2001/XMLSchema" xmlns:xs="http://www.w3.org/2001/XMLSchema" xmlns:p="http://schemas.microsoft.com/office/2006/metadata/properties" xmlns:ns2="1c39f0fc-054c-4f4b-b4a3-7983f66e4874" xmlns:ns3="16c4d96e-206f-4709-a4dc-24704e0182db" targetNamespace="http://schemas.microsoft.com/office/2006/metadata/properties" ma:root="true" ma:fieldsID="9383ea3faac8c8003de4e87a59164d3b" ns2:_="" ns3:_="">
    <xsd:import namespace="1c39f0fc-054c-4f4b-b4a3-7983f66e4874"/>
    <xsd:import namespace="16c4d96e-206f-4709-a4dc-24704e0182d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39f0fc-054c-4f4b-b4a3-7983f66e48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4d96e-206f-4709-a4dc-24704e0182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E02FDA-D716-4D3A-BD85-A9B07EF04B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39f0fc-054c-4f4b-b4a3-7983f66e4874"/>
    <ds:schemaRef ds:uri="16c4d96e-206f-4709-a4dc-24704e0182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64A7D5-2DC6-4E00-8D76-CB973D62F03F}">
  <ds:schemaRefs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1c39f0fc-054c-4f4b-b4a3-7983f66e4874"/>
    <ds:schemaRef ds:uri="http://schemas.openxmlformats.org/package/2006/metadata/core-properties"/>
    <ds:schemaRef ds:uri="16c4d96e-206f-4709-a4dc-24704e0182db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C8C2BA4-6A72-4335-91E2-1F8EB0AB09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22457</TotalTime>
  <Words>597</Words>
  <Application>Microsoft Macintosh PowerPoint</Application>
  <PresentationFormat>Widescreen</PresentationFormat>
  <Paragraphs>165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Thème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aurelie venturini</dc:creator>
  <cp:lastModifiedBy>sunny.charoenpong@gmail.com</cp:lastModifiedBy>
  <cp:revision>60</cp:revision>
  <dcterms:created xsi:type="dcterms:W3CDTF">2020-09-25T09:20:34Z</dcterms:created>
  <dcterms:modified xsi:type="dcterms:W3CDTF">2025-05-02T15:05:18Z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0x010100299F922C9D201C4EA3107C093E07EABC</vt:lpwstr>
  </property>
</Properties>
</file>